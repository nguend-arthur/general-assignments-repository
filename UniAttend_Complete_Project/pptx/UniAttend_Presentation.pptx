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1005840"/>
            <a:ext cx="1371600" cy="13716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UniAttend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49300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Attendance Management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Technology – ICT Cameroon  | 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0" y="36576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36576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75904" y="36576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1936" y="36576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14300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14300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75904" y="114300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31936" y="114300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92024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192024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92024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31936" y="192024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269748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9872" y="269748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75904" y="269748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31936" y="269748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347472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347472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5904" y="347472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31936" y="347472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425196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9872" y="425196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75904" y="425196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31936" y="4251960"/>
            <a:ext cx="109728" cy="109728"/>
          </a:xfrm>
          <a:prstGeom prst="ellipse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with Paper-Based Attendance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020"/>
                </a:solidFill>
              </a:rPr>
              <a:t>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Proxy Signing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Students sign for absent classmates — a name on paper proves nothing about presence.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88720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020"/>
                </a:solidFill>
              </a:rPr>
              <a:t>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22976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Lost / Damaged Sheets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Physical sheets get damaged, misplaced, or never reach the department.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17520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020"/>
                </a:solidFill>
              </a:rPr>
              <a:t>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3856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Slow Data Entry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Manual transcription of 36-student sheets takes hours per course per week.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017520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35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020"/>
                </a:solidFill>
              </a:rPr>
              <a:t>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22976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No Real-Time 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4290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Lecturers have zero visibility into who is absent until after the class ends.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A sensor-verified, course-based digital attendance system built for Cameroonian universities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81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075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Flutter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020"/>
                </a:solidFill>
              </a:rPr>
              <a:t>Android &amp; 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581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2075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GPS Fence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020"/>
                </a:solidFill>
              </a:rPr>
              <a:t>50 m radius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060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581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2075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Rotating QR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377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020"/>
                </a:solidFill>
              </a:rPr>
              <a:t>Refreshes every 30 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060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735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Device Lock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020"/>
                </a:solidFill>
              </a:rPr>
              <a:t>1 device per student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108960"/>
            <a:ext cx="26060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2735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✓✓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3767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Dual Session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4069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020"/>
                </a:solidFill>
              </a:rPr>
              <a:t>Start + end of class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108960"/>
            <a:ext cx="2606040" cy="146304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2735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3767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4069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020"/>
                </a:solidFill>
              </a:rPr>
              <a:t>Excel, PDF, CSV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 — Clean Architecture + BLoC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5943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39940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05579" y="96012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Flutter Widgets  +  BLoC Events / States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0" cy="15544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1709928"/>
            <a:ext cx="8046720" cy="594360"/>
          </a:xfrm>
          <a:prstGeom prst="rect">
            <a:avLst/>
          </a:prstGeom>
          <a:solidFill>
            <a:srgbClr val="1E5A8A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709928"/>
            <a:ext cx="38624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Domain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11066" y="17099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Use Cases  +  Entity Models  +  Repository Interfaces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2304288"/>
            <a:ext cx="0" cy="15544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85800" y="2459736"/>
            <a:ext cx="7772400" cy="594360"/>
          </a:xfrm>
          <a:prstGeom prst="rect">
            <a:avLst/>
          </a:prstGeom>
          <a:solidFill>
            <a:srgbClr val="217A9A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459736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16552" y="245973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Repository Implementations  +  Firebase Adapters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3054096"/>
            <a:ext cx="0" cy="15544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2960" y="3209544"/>
            <a:ext cx="7498080" cy="594360"/>
          </a:xfrm>
          <a:prstGeom prst="rect">
            <a:avLst/>
          </a:prstGeom>
          <a:solidFill>
            <a:srgbClr val="1A9B6B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209544"/>
            <a:ext cx="35990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Services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22038" y="32095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GPS Service  ·  QR Service  ·  Device Service  ·  Export 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3803904"/>
            <a:ext cx="0" cy="15544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60120" y="3959352"/>
            <a:ext cx="7223760" cy="594360"/>
          </a:xfrm>
          <a:prstGeom prst="rect">
            <a:avLst/>
          </a:prstGeom>
          <a:solidFill>
            <a:srgbClr val="E8A02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3959352"/>
            <a:ext cx="34674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— Firebase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27525" y="395935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Authentication  ·  Cloud Firestore  ·  Cloud Functions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Entity-Relationship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965960" cy="347472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144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261872"/>
            <a:ext cx="196596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18562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3460"/>
                </a:solidFill>
              </a:rPr>
              <a:t>PK id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" y="1504188"/>
            <a:ext cx="196596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04188"/>
            <a:ext cx="18562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fullName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1746504"/>
            <a:ext cx="196596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46504"/>
            <a:ext cx="18562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email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1988820"/>
            <a:ext cx="196596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88820"/>
            <a:ext cx="18562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matricNumber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2231136"/>
            <a:ext cx="196596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31136"/>
            <a:ext cx="18562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department: string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2473452"/>
            <a:ext cx="196596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73452"/>
            <a:ext cx="18562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role: enum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715768"/>
            <a:ext cx="196596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15768"/>
            <a:ext cx="18562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deviceId: string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914400"/>
            <a:ext cx="1965960" cy="2043684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914400"/>
            <a:ext cx="2011680" cy="347472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2316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COURSE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23160" y="1261872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1261872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3460"/>
                </a:solidFill>
              </a:rPr>
              <a:t>PK id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23160" y="1504188"/>
            <a:ext cx="201168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1504188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courseCode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23160" y="1746504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1746504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courseName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23160" y="1988820"/>
            <a:ext cx="201168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1988820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FK lecturerId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23160" y="2231136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2231136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FK courseRepId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23160" y="2473452"/>
            <a:ext cx="201168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2473452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semester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23160" y="2715768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2715768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academicYear: int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23160" y="914400"/>
            <a:ext cx="2011680" cy="2043684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914400"/>
            <a:ext cx="2011680" cy="347472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0916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ATTENDANCE_SESSION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1261872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261872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3460"/>
                </a:solidFill>
              </a:rPr>
              <a:t>PK id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1504188"/>
            <a:ext cx="201168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1504188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FK courseId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1746504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1746504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classType: enum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1988820"/>
            <a:ext cx="201168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1988820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status: enum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09160" y="2231136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231136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qrToken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09160" y="2473452"/>
            <a:ext cx="201168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473452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qrTokenExpiry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09160" y="2715768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2715768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classroom Lat/Lng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914400"/>
            <a:ext cx="2011680" cy="2043684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03720" y="914400"/>
            <a:ext cx="2011680" cy="347472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903720" y="914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ATTENDANCE_RECORD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903720" y="1261872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95160" y="1261872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3460"/>
                </a:solidFill>
              </a:rPr>
              <a:t>PK id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903720" y="1504188"/>
            <a:ext cx="201168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95160" y="1504188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FK sessionId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903720" y="1746504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95160" y="1746504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FK studentId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903720" y="1988820"/>
            <a:ext cx="201168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95160" y="1988820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checkInTime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903720" y="2231136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95160" y="2231136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checkOutTime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903720" y="2473452"/>
            <a:ext cx="2011680" cy="2423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95160" y="2473452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status: enum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903720" y="2715768"/>
            <a:ext cx="201168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95160" y="2715768"/>
            <a:ext cx="19019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deviceId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903720" y="914400"/>
            <a:ext cx="2011680" cy="2043684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48840" y="1280160"/>
            <a:ext cx="274320" cy="0"/>
          </a:xfrm>
          <a:prstGeom prst="line">
            <a:avLst/>
          </a:prstGeom>
          <a:noFill/>
          <a:ln w="19050">
            <a:solidFill>
              <a:srgbClr val="0F346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34840" y="1280160"/>
            <a:ext cx="274320" cy="0"/>
          </a:xfrm>
          <a:prstGeom prst="line">
            <a:avLst/>
          </a:prstGeom>
          <a:noFill/>
          <a:ln w="19050">
            <a:solidFill>
              <a:srgbClr val="0F346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20840" y="1280160"/>
            <a:ext cx="182880" cy="0"/>
          </a:xfrm>
          <a:prstGeom prst="line">
            <a:avLst/>
          </a:prstGeom>
          <a:noFill/>
          <a:ln w="19050">
            <a:solidFill>
              <a:srgbClr val="0F34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03120" y="1097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enrolls in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297680" y="1097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has sessions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537960" y="1097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records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743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= Primary Key   FK = Foreign Key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Class Diagram — Core Domain Classes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1920240" cy="4572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68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&lt;&lt;interface&gt;&gt;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AuthRepository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192024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+login(email,pass)→User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1545336"/>
            <a:ext cx="1920240" cy="21945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4533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+register(user,pass)→User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764792"/>
            <a:ext cx="192024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6479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+logout(): void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1984248"/>
            <a:ext cx="1920240" cy="21945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8424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+getCurrentUser(): User?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2203704"/>
            <a:ext cx="192024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0370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+authStateChanges: Stream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868680"/>
            <a:ext cx="1920240" cy="1554480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868680"/>
            <a:ext cx="2011680" cy="4572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0" y="868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&lt;&lt;interface&gt;&gt;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AttendanceRepository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0" y="1325880"/>
            <a:ext cx="20116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132588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+checkIn(params)→Record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0" y="1545336"/>
            <a:ext cx="2011680" cy="21945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154533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+checkOut(params)→Record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0" y="1764792"/>
            <a:ext cx="20116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176479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+getSessionAttendance(id)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0" y="1984248"/>
            <a:ext cx="2011680" cy="21945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19842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+getStudentRecord(sessId,stuId)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0" y="868680"/>
            <a:ext cx="2011680" cy="1335024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868680"/>
            <a:ext cx="2011680" cy="4572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80560" y="868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&lt;&lt;interface&gt;&gt;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CourseRepository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480560" y="1325880"/>
            <a:ext cx="20116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132588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+getCoursesForStudent(id)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80560" y="1545336"/>
            <a:ext cx="2011680" cy="21945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154533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+getSessionsForCourse(id)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80560" y="1764792"/>
            <a:ext cx="20116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176479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+getActiveSession(id)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480560" y="1984248"/>
            <a:ext cx="2011680" cy="21945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19842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+createSession(session)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480560" y="2203704"/>
            <a:ext cx="20116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22037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+updateSession(session)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80560" y="868680"/>
            <a:ext cx="2011680" cy="1554480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" y="2880360"/>
            <a:ext cx="1828800" cy="347472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82880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LoginUseCase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2880" y="3227832"/>
            <a:ext cx="182880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22783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+call(email,pass): User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82880" y="2880360"/>
            <a:ext cx="1828800" cy="566928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94560" y="2880360"/>
            <a:ext cx="1920240" cy="347472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194560" y="2880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CheckInUseCase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94560" y="3227832"/>
            <a:ext cx="192024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0" y="32278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+call(session,user,pos): Record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194560" y="2880360"/>
            <a:ext cx="1920240" cy="566928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0" y="2880360"/>
            <a:ext cx="2011680" cy="347472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297680" y="2880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CheckOutUseCase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297680" y="3227832"/>
            <a:ext cx="20116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322783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+call(sessId,stuId,pos): Record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297680" y="2880360"/>
            <a:ext cx="2011680" cy="566928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37960" y="2880360"/>
            <a:ext cx="2423160" cy="347472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537960" y="2880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ExportService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537960" y="3227832"/>
            <a:ext cx="242316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9400" y="3227832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+exportToExcel(session,records)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537960" y="3447288"/>
            <a:ext cx="2423160" cy="21945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29400" y="344728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+exportToPDF(session,records)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537960" y="3666744"/>
            <a:ext cx="242316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29400" y="3666744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+shareFile(file): void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537960" y="2880360"/>
            <a:ext cx="2423160" cy="1005840"/>
          </a:xfrm>
          <a:prstGeom prst="rect">
            <a:avLst/>
          </a:prstGeom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43000" y="2880360"/>
            <a:ext cx="0" cy="-274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3200400" y="2880360"/>
            <a:ext cx="0" cy="-36576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5303520" y="2880360"/>
            <a:ext cx="0" cy="-36576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Security &amp; Anti-Fraud Mechanisms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24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Rotating QR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SHA-256 signed token regenerates every 30 s. Screenshots and shared images are automatically rejected.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55648"/>
            <a:ext cx="502920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5564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19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GPS Geofencing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7568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Haversine formula checks student is within 50 m of classroom. GPS coordinates stored in the attendance record.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51176"/>
            <a:ext cx="502920" cy="658368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511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</a:rPr>
              <a:t>Device Fingerprinting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87121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Device ID bound at registration — one phone per student account. Prevents proxy check-in via borrowed phones.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46704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46704"/>
            <a:ext cx="502920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4670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Two-Session Requirement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66674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Check-in + check-out both required. Partial-only = yellow on roster. Only both sessions = marked Present.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42232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42232"/>
            <a:ext cx="502920" cy="65836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1422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</a:rPr>
              <a:t>Matriculation Number Lock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46227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Matric number set once and cannot be changed. Duplicate matric numbers rejected at registration.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 Roles &amp; Key Screens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8404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81328"/>
            <a:ext cx="201168" cy="20116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29844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Home — course list with live sessions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76272"/>
            <a:ext cx="201168" cy="20116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19933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Scan QR — camera + GPS check-in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88336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871216"/>
            <a:ext cx="201168" cy="20116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688336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Check-Out — end-of-class scan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566160"/>
            <a:ext cx="201168" cy="20116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3832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History — attendance log &amp; stats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078224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261104"/>
            <a:ext cx="201168" cy="201168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07822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Profile — account management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914400"/>
            <a:ext cx="2651760" cy="38404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Course Rep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1298448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1481328"/>
            <a:ext cx="201168" cy="20116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5" name="Text 23"/>
          <p:cNvSpPr/>
          <p:nvPr/>
        </p:nvSpPr>
        <p:spPr>
          <a:xfrm>
            <a:off x="3666744" y="129844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Admin Dashboard — session controls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1993392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2176272"/>
            <a:ext cx="201168" cy="20116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3666744" y="19933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Generate QR — rotating live display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2688336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2871216"/>
            <a:ext cx="201168" cy="20116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1" name="Text 29"/>
          <p:cNvSpPr/>
          <p:nvPr/>
        </p:nvSpPr>
        <p:spPr>
          <a:xfrm>
            <a:off x="3666744" y="2688336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Live Roster — real-time attendance view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383280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566160"/>
            <a:ext cx="201168" cy="20116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4" name="Text 32"/>
          <p:cNvSpPr/>
          <p:nvPr/>
        </p:nvSpPr>
        <p:spPr>
          <a:xfrm>
            <a:off x="3666744" y="33832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Export Panel — Excel / PDF / CSV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914400"/>
            <a:ext cx="265176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Lecturer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26480" y="1298448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1481328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6547104" y="129844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Overview — all session history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1993392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2176272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6547104" y="19933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Live Dashboard — same as rep view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26480" y="2688336"/>
            <a:ext cx="2651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63640" y="2871216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6547104" y="2688336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Report Export — download for records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Flutter 3.x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013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Dart 3.x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Material 3 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097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State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481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flutter_bloc 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8013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GetIt (DI)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1214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go_router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972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Sensors &amp; Hardware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481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geolocator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8013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mobile_scanner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1214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device_info_plus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Backend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3101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Firebase Auth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630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Cloud Firestore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Cloud Functions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83464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Export &amp; Sharing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33101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excel package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630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pdf package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share_plus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Security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33101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local_auth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630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crypto (SHA-256)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shared_preferences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Implementation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502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3460"/>
                </a:solidFill>
              </a:rPr>
              <a:t>Weeks 1–3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1920240" cy="137160"/>
          </a:xfrm>
          <a:prstGeom prst="rect">
            <a:avLst/>
          </a:prstGeom>
          <a:solidFill>
            <a:srgbClr val="0F3460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2121408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2258568"/>
            <a:ext cx="182880" cy="18288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12140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Flutter setup &amp; Firebase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688336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825496"/>
            <a:ext cx="182880" cy="18288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68833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Auth (login/register)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255264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3392424"/>
            <a:ext cx="182880" cy="18288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25526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User model + roles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82219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3959352"/>
            <a:ext cx="182880" cy="18288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382219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Navigation &amp; routing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0280" y="121158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960120"/>
            <a:ext cx="192024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Features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1463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5C0"/>
                </a:solidFill>
              </a:rPr>
              <a:t>Weeks 4–7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1828800"/>
            <a:ext cx="1920240" cy="137160"/>
          </a:xfrm>
          <a:prstGeom prst="rect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68880" y="2121408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78608" y="2258568"/>
            <a:ext cx="182880" cy="1828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2852928" y="212140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QR generation &amp; scanning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2688336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78608" y="2825496"/>
            <a:ext cx="182880" cy="1828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2852928" y="268833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GPS geofencing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3255264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78608" y="3392424"/>
            <a:ext cx="182880" cy="1828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2852928" y="325526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Device binding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68880" y="382219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78608" y="3959352"/>
            <a:ext cx="182880" cy="1828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2852928" y="382219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Attendance recording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89120" y="121158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960120"/>
            <a:ext cx="192024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461772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 &amp; Export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17720" y="1463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Weeks 8–10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1828800"/>
            <a:ext cx="1920240" cy="137160"/>
          </a:xfrm>
          <a:prstGeom prst="rect">
            <a:avLst/>
          </a:prstGeom>
          <a:solidFill>
            <a:srgbClr val="2E7D32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17720" y="2121408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27448" y="2258568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4" name="Text 42"/>
          <p:cNvSpPr/>
          <p:nvPr/>
        </p:nvSpPr>
        <p:spPr>
          <a:xfrm>
            <a:off x="5001768" y="212140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Course Rep dashboard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2688336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27448" y="2825496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7" name="Text 45"/>
          <p:cNvSpPr/>
          <p:nvPr/>
        </p:nvSpPr>
        <p:spPr>
          <a:xfrm>
            <a:off x="5001768" y="268833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Live roster view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17720" y="3255264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27448" y="3392424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0" name="Text 48"/>
          <p:cNvSpPr/>
          <p:nvPr/>
        </p:nvSpPr>
        <p:spPr>
          <a:xfrm>
            <a:off x="5001768" y="325526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Excel / PDF export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382219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27448" y="3959352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3" name="Text 51"/>
          <p:cNvSpPr/>
          <p:nvPr/>
        </p:nvSpPr>
        <p:spPr>
          <a:xfrm>
            <a:off x="5001768" y="382219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Course management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37960" y="121158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66560" y="960120"/>
            <a:ext cx="1920240" cy="5029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6" name="Text 54"/>
          <p:cNvSpPr/>
          <p:nvPr/>
        </p:nvSpPr>
        <p:spPr>
          <a:xfrm>
            <a:off x="676656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QA &amp; Launch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766560" y="14630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020"/>
                </a:solidFill>
              </a:rPr>
              <a:t>Weeks 11–13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66560" y="1828800"/>
            <a:ext cx="1920240" cy="137160"/>
          </a:xfrm>
          <a:prstGeom prst="rect">
            <a:avLst/>
          </a:prstGeom>
          <a:solidFill>
            <a:srgbClr val="E8A020">
              <a:alpha val="6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66560" y="2121408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76288" y="2258568"/>
            <a:ext cx="182880" cy="18288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1" name="Text 59"/>
          <p:cNvSpPr/>
          <p:nvPr/>
        </p:nvSpPr>
        <p:spPr>
          <a:xfrm>
            <a:off x="7150608" y="212140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Testing &amp; bug fixes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766560" y="2688336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76288" y="2825496"/>
            <a:ext cx="182880" cy="18288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4" name="Text 62"/>
          <p:cNvSpPr/>
          <p:nvPr/>
        </p:nvSpPr>
        <p:spPr>
          <a:xfrm>
            <a:off x="7150608" y="2688336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UAT with students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766560" y="3255264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76288" y="3392424"/>
            <a:ext cx="182880" cy="18288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7" name="Text 65"/>
          <p:cNvSpPr/>
          <p:nvPr/>
        </p:nvSpPr>
        <p:spPr>
          <a:xfrm>
            <a:off x="7150608" y="3255264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Play Store release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766560" y="382219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76288" y="3959352"/>
            <a:ext cx="182880" cy="18288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70" name="Text 68"/>
          <p:cNvSpPr/>
          <p:nvPr/>
        </p:nvSpPr>
        <p:spPr>
          <a:xfrm>
            <a:off x="7150608" y="3822192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Department training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020"/>
                </a:solidFill>
              </a:rPr>
              <a:t>UniAttend delivers: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  Zero proxy attendance — GPS + device binding + rotating QR triple-locks each check-in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✓   Instant reporting — live roster visible to rep and lecturer throughout the class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  Familiar export format — Excel sheet matches existing ICT Cameroon paper template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✓   Scalable architecture — Clean Architecture enables adding institutions without rewriting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  Offline-capable — local Hive cache ensures functionality in poor-connectivity classrooms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7863840" cy="7132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6052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A32"/>
                </a:solidFill>
              </a:rPr>
              <a:t>Ready to eliminate paper attendance at ICT Cameroon.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UniAttend - University Attendance Management System</dc:title>
  <dc:subject>PptxGenJS Presentation</dc:subject>
  <dc:creator>ICT Cameroon</dc:creator>
  <cp:lastModifiedBy>ICT Cameroon</cp:lastModifiedBy>
  <cp:revision>1</cp:revision>
  <dcterms:created xsi:type="dcterms:W3CDTF">2026-04-10T13:06:54Z</dcterms:created>
  <dcterms:modified xsi:type="dcterms:W3CDTF">2026-04-10T13:06:54Z</dcterms:modified>
</cp:coreProperties>
</file>