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0150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457200"/>
            <a:ext cx="2011680" cy="20116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840480"/>
            <a:ext cx="1828800" cy="1828800"/>
          </a:xfrm>
          <a:prstGeom prst="ellipse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411480"/>
            <a:ext cx="82296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114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UniAttend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Attendance Management System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02920" y="2834640"/>
            <a:ext cx="41148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and Communication Technology University – ICT Cameroon  |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Problem with Paper-Based Attendance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95360" y="45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6B6D4"/>
                </a:solidFill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54864" cy="15544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527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6B6B"/>
                </a:solidFill>
              </a:rPr>
              <a:t>✎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Proxy Signing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03911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Students sign for absent classmates — a name on paper proves nothing about physical presence.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43000"/>
            <a:ext cx="54864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527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59E0B"/>
                </a:solidFill>
              </a:rPr>
              <a:t>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Lost / Damaged Sheets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203911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Physical sheets get damaged, misplaced, or never reach the department office.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26080"/>
            <a:ext cx="54864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358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891B2"/>
                </a:solidFill>
              </a:rPr>
              <a:t>⏱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11480" y="3474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Slow Data Entry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82219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Manual transcription of 36-student sheets takes hours per course, per week.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926080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926080"/>
            <a:ext cx="54864" cy="1554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0358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59669"/>
                </a:solidFill>
              </a:rPr>
              <a:t>📊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46320" y="3474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No Real-Time Analytics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82219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Lecturers have zero visibility into who is absent until after the class ends.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Our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95360" y="45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6B6D4"/>
                </a:solidFill>
              </a:rPr>
              <a:t>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6B6D4"/>
                </a:solidFill>
              </a:rPr>
              <a:t>A sensor-verified, course-based digital attendance system built for Cameroonian universities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1325880" cy="2560320"/>
          </a:xfrm>
          <a:prstGeom prst="rect">
            <a:avLst/>
          </a:prstGeom>
          <a:solidFill>
            <a:srgbClr val="1A2F4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719072"/>
            <a:ext cx="685800" cy="6858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190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📱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" y="25603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Flutter App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3017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</a:rPr>
              <a:t>Android &amp; iOS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83080" y="1554480"/>
            <a:ext cx="1325880" cy="2560320"/>
          </a:xfrm>
          <a:prstGeom prst="rect">
            <a:avLst/>
          </a:prstGeom>
          <a:solidFill>
            <a:srgbClr val="1A2F4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1719072"/>
            <a:ext cx="685800" cy="6858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7190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📍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28800" y="25603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GPS Fence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3017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</a:rPr>
              <a:t>50 m radius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554480"/>
            <a:ext cx="1325880" cy="2560320"/>
          </a:xfrm>
          <a:prstGeom prst="rect">
            <a:avLst/>
          </a:prstGeom>
          <a:solidFill>
            <a:srgbClr val="1A2F4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11880" y="1719072"/>
            <a:ext cx="685800" cy="6858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17190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🔄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337560" y="25603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Rotating QR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37560" y="3017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</a:rPr>
              <a:t>Refreshes every 30 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1554480"/>
            <a:ext cx="1325880" cy="2560320"/>
          </a:xfrm>
          <a:prstGeom prst="rect">
            <a:avLst/>
          </a:prstGeom>
          <a:solidFill>
            <a:srgbClr val="1A2F4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0" y="1719072"/>
            <a:ext cx="685800" cy="6858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7190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846320" y="25603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Device Lock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017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</a:rPr>
              <a:t>1 device per student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1554480"/>
            <a:ext cx="1325880" cy="2560320"/>
          </a:xfrm>
          <a:prstGeom prst="rect">
            <a:avLst/>
          </a:prstGeom>
          <a:solidFill>
            <a:srgbClr val="1A2F4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9400" y="1719072"/>
            <a:ext cx="685800" cy="6858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17190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✓✓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355080" y="25603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Dual Session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55080" y="3017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</a:rPr>
              <a:t>Start + end of class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818120" y="1554480"/>
            <a:ext cx="1325880" cy="2560320"/>
          </a:xfrm>
          <a:prstGeom prst="rect">
            <a:avLst/>
          </a:prstGeom>
          <a:solidFill>
            <a:srgbClr val="1A2F4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1719072"/>
            <a:ext cx="685800" cy="6858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0" y="171907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📊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863840" y="25603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Export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863840" y="30175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</a:rPr>
              <a:t>Excel, PDF, CSV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System Architecture — Clean Architecture + BLoC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95360" y="45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6B6D4"/>
                </a:solidFill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4124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4864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424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Presentation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3502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Flutter Widgets  +  BLoC Events / States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73936"/>
            <a:ext cx="80467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773936"/>
            <a:ext cx="54864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10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Domain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10312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Use Cases  +  Entity Models  +  Repository Interfaces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542032"/>
            <a:ext cx="7680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542032"/>
            <a:ext cx="54864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578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Data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87121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Repository Implementations  +  Firebase Adapters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3310128"/>
            <a:ext cx="7315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3310128"/>
            <a:ext cx="54864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3467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Services Layer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63931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GPS Service  ·  QR Service  ·  Device Service  ·  Export Service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05840" y="4078224"/>
            <a:ext cx="6949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05840" y="4078224"/>
            <a:ext cx="54864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4114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Backend — Firebase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440740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Authentication  ·  Cloud Firestore  ·  Cloud Functions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Entity-Relationship Diagram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95360" y="45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6B6D4"/>
                </a:solidFill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10312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05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371600"/>
            <a:ext cx="2103120" cy="2048256"/>
          </a:xfrm>
          <a:prstGeom prst="rect">
            <a:avLst/>
          </a:prstGeom>
          <a:solidFill>
            <a:srgbClr val="1A2F4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PK  id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6642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fullName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19568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email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224942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matricNumber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25420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department: string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2834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role: enum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31272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deviceId: string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14600" y="1005840"/>
            <a:ext cx="210312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1005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COURSE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14600" y="1371600"/>
            <a:ext cx="2103120" cy="2048256"/>
          </a:xfrm>
          <a:prstGeom prst="rect">
            <a:avLst/>
          </a:prstGeom>
          <a:solidFill>
            <a:srgbClr val="1A2F4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PK  id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06040" y="16642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courseCode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06040" y="19568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courseName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06040" y="224942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FK  lecturerId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06040" y="25420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FK  courseRepId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06040" y="2834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semester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606040" y="31272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academicYear: int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1005840"/>
            <a:ext cx="210312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005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ATTENDANCE_SESSION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1371600"/>
            <a:ext cx="2103120" cy="2048256"/>
          </a:xfrm>
          <a:prstGeom prst="rect">
            <a:avLst/>
          </a:prstGeom>
          <a:solidFill>
            <a:srgbClr val="1A2F4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PK  id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92040" y="16642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FK  courseId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92040" y="19568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classType: enum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92040" y="224942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status: enum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92040" y="25420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qrToken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92040" y="2834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qrTokenExpiry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92040" y="31272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classroomLat/Lng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086600" y="1005840"/>
            <a:ext cx="210312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86600" y="1005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ATTENDANCE_RECORD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086600" y="1371600"/>
            <a:ext cx="2103120" cy="2048256"/>
          </a:xfrm>
          <a:prstGeom prst="rect">
            <a:avLst/>
          </a:prstGeom>
          <a:solidFill>
            <a:srgbClr val="1A2F4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7804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PK  id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178040" y="16642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FK  sessionId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178040" y="19568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B6D4"/>
                </a:solidFill>
              </a:rPr>
              <a:t>FK  studentId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178040" y="224942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checkInTime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178040" y="25420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checkOutTime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178040" y="2834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status: enum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178040" y="31272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</a:rPr>
              <a:t>deviceId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874520" y="2606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6B6D4"/>
                </a:solidFill>
              </a:rPr>
              <a:t>enrolls in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60520" y="2606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6B6D4"/>
                </a:solidFill>
              </a:rPr>
              <a:t>has sessions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46520" y="2606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6B6D4"/>
                </a:solidFill>
              </a:rPr>
              <a:t>records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286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PK = Primary Key   FK = Foreign Key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Class Diagram — Core Domain Classes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95360" y="45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6B6D4"/>
                </a:solidFill>
              </a:rPr>
              <a:t>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20116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05840"/>
            <a:ext cx="2011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&lt;&lt;interface&gt;&gt;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AuthRepository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2880" y="146304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5087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+login(email,pass)→User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56032" y="17647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+register(user,pass)→User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56032" y="20208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+logout(): void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6032" y="22768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+getCurrentUser(): User?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6032" y="253288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+authStateChanges: Stream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46120" y="1005840"/>
            <a:ext cx="283464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005840"/>
            <a:ext cx="28346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&lt;&lt;interface&gt;&gt;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AttendanceRepository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46120" y="1463040"/>
            <a:ext cx="2834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15087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+checkIn(params)→Record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19272" y="17647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+checkOut(params)→Record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19272" y="20208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+getSessionAttendance(id)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19272" y="22768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+getStudentRecord(sessId,stuId)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19272" y="25328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+updateSession(session)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09360" y="1005840"/>
            <a:ext cx="269748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005840"/>
            <a:ext cx="26974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&lt;&lt;interface&gt;&gt;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CourseRepository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09360" y="1463040"/>
            <a:ext cx="269748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150876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+getCoursesForStudent(id)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82512" y="176479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+getSessionsForCourse(id)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82512" y="202082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+getActiveSession(id)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82512" y="227685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+createSession(session)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2880" y="3200400"/>
            <a:ext cx="20116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3200400"/>
            <a:ext cx="2011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LoginUseCase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82880" y="365760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37033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+call(email,pass): User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23160" y="3200400"/>
            <a:ext cx="20116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23160" y="3200400"/>
            <a:ext cx="2011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CheckInUseCase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423160" y="365760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96312" y="37033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+call(session,user,pos): Record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63440" y="3200400"/>
            <a:ext cx="283464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CheckOutUseCase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63440" y="3657600"/>
            <a:ext cx="2834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37033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+call(sessId,stuId,pos): Record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903720" y="3200400"/>
            <a:ext cx="201168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3200400"/>
            <a:ext cx="2011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ExportService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903720" y="3657600"/>
            <a:ext cx="201168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76872" y="37033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+exportToExcel(session,records)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976872" y="39593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+exportToPDF(session,records)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976872" y="42153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+shareFile(file): void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Security &amp; Anti-Fraud Mechanisms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95360" y="45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6B6D4"/>
                </a:solidFill>
              </a:rPr>
              <a:t>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97680" cy="1097280"/>
          </a:xfrm>
          <a:prstGeom prst="rect">
            <a:avLst/>
          </a:prstGeom>
          <a:solidFill>
            <a:srgbClr val="1A2F4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252728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52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</a:rPr>
              <a:t>Rotating QR Code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48132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SHA-256 signed token regenerates every 30 s. Screenshots and shared images are automatically rejected.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4297680" cy="1097280"/>
          </a:xfrm>
          <a:prstGeom prst="rect">
            <a:avLst/>
          </a:prstGeom>
          <a:solidFill>
            <a:srgbClr val="1A2F4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2487168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</a:rPr>
              <a:t>GPS Geofencing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71576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Haversine formula checks student is within 50 m of classroom. GPS coordinates stored in the attendance record.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520440"/>
            <a:ext cx="4297680" cy="1097280"/>
          </a:xfrm>
          <a:prstGeom prst="rect">
            <a:avLst/>
          </a:prstGeom>
          <a:solidFill>
            <a:srgbClr val="1A2F4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3721608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721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</a:rPr>
              <a:t>Device Fingerprinting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95020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Device ID bound at registration — one phone per student account. Prevents proxy check-in via borrowed phones.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1051560"/>
            <a:ext cx="4297680" cy="1097280"/>
          </a:xfrm>
          <a:prstGeom prst="rect">
            <a:avLst/>
          </a:prstGeom>
          <a:solidFill>
            <a:srgbClr val="1A2F4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10328" y="1252728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1252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1143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</a:rPr>
              <a:t>Two-Session Requirement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148132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Check-in + check-out both required. Partial-only = yellow on roster. Both sessions = marked Present.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2286000"/>
            <a:ext cx="4297680" cy="1097280"/>
          </a:xfrm>
          <a:prstGeom prst="rect">
            <a:avLst/>
          </a:prstGeom>
          <a:solidFill>
            <a:srgbClr val="1A2F4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10328" y="2487168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2487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3212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</a:rPr>
              <a:t>Matriculation Number Lock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32120" y="2715768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</a:rPr>
              <a:t>Matric number set once and cannot be changed. Duplicate matric numbers rejected at registration.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User Roles &amp; Key Screens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595360" y="45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6B6D4"/>
                </a:solidFill>
              </a:rPr>
              <a:t>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Student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2743200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3619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</a:rPr>
              <a:t>Home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course list with live sessions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</a:rPr>
              <a:t>Scan QR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camera + GPS check-in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85292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</a:rPr>
              <a:t>Check-Out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end-of-class scan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3511296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91B2"/>
                </a:solidFill>
              </a:rPr>
              <a:t>History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attendance log &amp; stats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Course Rep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00400" y="1463040"/>
            <a:ext cx="2743200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53619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</a:rPr>
              <a:t>Admin Dashboard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session controls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37560" y="21945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</a:rPr>
              <a:t>Generate QR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rotating live display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37560" y="285292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</a:rPr>
              <a:t>Live Roster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real-time attendance view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37560" y="3511296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</a:rPr>
              <a:t>Export Panel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Excel / PDF / CSV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1005840"/>
            <a:ext cx="274320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Lecturer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26480" y="1463040"/>
            <a:ext cx="2743200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53619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</a:rPr>
              <a:t>Course Overview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all session history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63640" y="21945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</a:rPr>
              <a:t>Live Dashboard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same as rep view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63640" y="2852928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</a:rPr>
              <a:t>Report Export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download for records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63640" y="3511296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9669"/>
                </a:solidFill>
              </a:rPr>
              <a:t>Profile</a:t>
            </a:r>
            <a:endParaRPr lang="en-US" sz="115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account management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Technology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95360" y="45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6B6D4"/>
                </a:solidFill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283464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058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Frontend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" y="1389888"/>
            <a:ext cx="2834640" cy="1508760"/>
          </a:xfrm>
          <a:prstGeom prst="rect">
            <a:avLst/>
          </a:prstGeom>
          <a:solidFill>
            <a:srgbClr val="1A2F4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▸ </a:t>
            </a:r>
            <a:r>
              <a:rPr lang="en-US" sz="1200" dirty="0">
                <a:solidFill>
                  <a:srgbClr val="E2E8F0"/>
                </a:solidFill>
              </a:rPr>
              <a:t>Flutter 3.x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▸ </a:t>
            </a:r>
            <a:r>
              <a:rPr lang="en-US" sz="1200" dirty="0">
                <a:solidFill>
                  <a:srgbClr val="E2E8F0"/>
                </a:solidFill>
              </a:rPr>
              <a:t>Dart 3.x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" y="2377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▸ </a:t>
            </a:r>
            <a:r>
              <a:rPr lang="en-US" sz="1200" dirty="0">
                <a:solidFill>
                  <a:srgbClr val="E2E8F0"/>
                </a:solidFill>
              </a:rPr>
              <a:t>Material 3 Design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1005840"/>
            <a:ext cx="28346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0058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State Management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54680" y="1389888"/>
            <a:ext cx="2834640" cy="1508760"/>
          </a:xfrm>
          <a:prstGeom prst="rect">
            <a:avLst/>
          </a:prstGeom>
          <a:solidFill>
            <a:srgbClr val="1A2F4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▸ </a:t>
            </a:r>
            <a:r>
              <a:rPr lang="en-US" sz="1200" dirty="0">
                <a:solidFill>
                  <a:srgbClr val="E2E8F0"/>
                </a:solidFill>
              </a:rPr>
              <a:t>flutter_bloc 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64408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▸ </a:t>
            </a:r>
            <a:r>
              <a:rPr lang="en-US" sz="1200" dirty="0">
                <a:solidFill>
                  <a:srgbClr val="E2E8F0"/>
                </a:solidFill>
              </a:rPr>
              <a:t>GetIt (DI)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64408" y="2377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▸ </a:t>
            </a:r>
            <a:r>
              <a:rPr lang="en-US" sz="1200" dirty="0">
                <a:solidFill>
                  <a:srgbClr val="E2E8F0"/>
                </a:solidFill>
              </a:rPr>
              <a:t>go_router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8346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0058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Sensors &amp; Hardware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1389888"/>
            <a:ext cx="2834640" cy="1508760"/>
          </a:xfrm>
          <a:prstGeom prst="rect">
            <a:avLst/>
          </a:prstGeom>
          <a:solidFill>
            <a:srgbClr val="1A2F4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▸ </a:t>
            </a:r>
            <a:r>
              <a:rPr lang="en-US" sz="1200" dirty="0">
                <a:solidFill>
                  <a:srgbClr val="E2E8F0"/>
                </a:solidFill>
              </a:rPr>
              <a:t>geolocator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36208" y="1920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▸ </a:t>
            </a:r>
            <a:r>
              <a:rPr lang="en-US" sz="1200" dirty="0">
                <a:solidFill>
                  <a:srgbClr val="E2E8F0"/>
                </a:solidFill>
              </a:rPr>
              <a:t>mobile_scanner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6208" y="2377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▸ </a:t>
            </a:r>
            <a:r>
              <a:rPr lang="en-US" sz="1200" dirty="0">
                <a:solidFill>
                  <a:srgbClr val="E2E8F0"/>
                </a:solidFill>
              </a:rPr>
              <a:t>device_info_plus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82880" y="2880360"/>
            <a:ext cx="283464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28803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82880" y="3264408"/>
            <a:ext cx="2834640" cy="1508760"/>
          </a:xfrm>
          <a:prstGeom prst="rect">
            <a:avLst/>
          </a:prstGeom>
          <a:solidFill>
            <a:srgbClr val="1A2F4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3337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▸ </a:t>
            </a:r>
            <a:r>
              <a:rPr lang="en-US" sz="1200" dirty="0">
                <a:solidFill>
                  <a:srgbClr val="E2E8F0"/>
                </a:solidFill>
              </a:rPr>
              <a:t>Firebase Auth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2608" y="3794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▸ </a:t>
            </a:r>
            <a:r>
              <a:rPr lang="en-US" sz="1200" dirty="0">
                <a:solidFill>
                  <a:srgbClr val="E2E8F0"/>
                </a:solidFill>
              </a:rPr>
              <a:t>Cloud Firestore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2608" y="4251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▸ </a:t>
            </a:r>
            <a:r>
              <a:rPr lang="en-US" sz="1200" dirty="0">
                <a:solidFill>
                  <a:srgbClr val="E2E8F0"/>
                </a:solidFill>
              </a:rPr>
              <a:t>Cloud Functions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154680" y="2880360"/>
            <a:ext cx="283464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54680" y="28803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Export &amp; Sharing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154680" y="3264408"/>
            <a:ext cx="2834640" cy="1508760"/>
          </a:xfrm>
          <a:prstGeom prst="rect">
            <a:avLst/>
          </a:prstGeom>
          <a:solidFill>
            <a:srgbClr val="1A2F4A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64408" y="3337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▸ </a:t>
            </a:r>
            <a:r>
              <a:rPr lang="en-US" sz="1200" dirty="0">
                <a:solidFill>
                  <a:srgbClr val="E2E8F0"/>
                </a:solidFill>
              </a:rPr>
              <a:t>excel package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64408" y="3794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▸ </a:t>
            </a:r>
            <a:r>
              <a:rPr lang="en-US" sz="1200" dirty="0">
                <a:solidFill>
                  <a:srgbClr val="E2E8F0"/>
                </a:solidFill>
              </a:rPr>
              <a:t>pdf package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64408" y="4251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▸ </a:t>
            </a:r>
            <a:r>
              <a:rPr lang="en-US" sz="1200" dirty="0">
                <a:solidFill>
                  <a:srgbClr val="E2E8F0"/>
                </a:solidFill>
              </a:rPr>
              <a:t>share_plus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26480" y="2880360"/>
            <a:ext cx="2834640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28803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Security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126480" y="3264408"/>
            <a:ext cx="2834640" cy="1508760"/>
          </a:xfrm>
          <a:prstGeom prst="rect">
            <a:avLst/>
          </a:prstGeom>
          <a:solidFill>
            <a:srgbClr val="1A2F4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36208" y="3337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</a:rPr>
              <a:t>▸ </a:t>
            </a:r>
            <a:r>
              <a:rPr lang="en-US" sz="1200" dirty="0">
                <a:solidFill>
                  <a:srgbClr val="E2E8F0"/>
                </a:solidFill>
              </a:rPr>
              <a:t>local_auth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36208" y="37947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</a:rPr>
              <a:t>▸ </a:t>
            </a:r>
            <a:r>
              <a:rPr lang="en-US" sz="1200" dirty="0">
                <a:solidFill>
                  <a:srgbClr val="E2E8F0"/>
                </a:solidFill>
              </a:rPr>
              <a:t>crypto (SHA-256)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36208" y="4251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</a:rPr>
              <a:t>▸ </a:t>
            </a:r>
            <a:r>
              <a:rPr lang="en-US" sz="1200" dirty="0">
                <a:solidFill>
                  <a:srgbClr val="E2E8F0"/>
                </a:solidFill>
              </a:rPr>
              <a:t>shared_preferences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Implementation Roadmap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0" y="45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6B6D4"/>
                </a:solidFill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0116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
</a:t>
            </a:r>
            <a:r>
              <a:rPr lang="en-US" sz="1100" dirty="0">
                <a:solidFill>
                  <a:srgbClr val="FFFFFF"/>
                </a:solidFill>
              </a:rPr>
              <a:t>Foundation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508760"/>
            <a:ext cx="201168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Weeks 1–3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783080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187452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8288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Flutter setup &amp; Firebase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8328" y="246888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423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Auth (login/register)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8328" y="306324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3017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User model + roles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8328" y="365760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611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Navigation &amp; routing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40280" y="1207008"/>
            <a:ext cx="164592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04872" y="1005840"/>
            <a:ext cx="20116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04872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2
</a:t>
            </a:r>
            <a:r>
              <a:rPr lang="en-US" sz="1100" dirty="0">
                <a:solidFill>
                  <a:srgbClr val="FFFFFF"/>
                </a:solidFill>
              </a:rPr>
              <a:t>Core Features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404872" y="1508760"/>
            <a:ext cx="201168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04872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Weeks 4–7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04872" y="1783080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14600" y="18745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52344" y="18288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QR generation &amp; scanning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14600" y="246888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52344" y="2423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GPS geofencing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14600" y="306324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52344" y="3017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Device binding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14600" y="365760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52344" y="3611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Attendance recording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416552" y="1207008"/>
            <a:ext cx="164592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81144" y="1005840"/>
            <a:ext cx="201168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81144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3
</a:t>
            </a:r>
            <a:r>
              <a:rPr lang="en-US" sz="1100" dirty="0">
                <a:solidFill>
                  <a:srgbClr val="FFFFFF"/>
                </a:solidFill>
              </a:rPr>
              <a:t>Admin &amp; Export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81144" y="1508760"/>
            <a:ext cx="201168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81144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Weeks 8–10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81144" y="1783080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90872" y="18745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28616" y="18288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Course Rep dashboard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90872" y="246888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28616" y="2423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Live roster view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90872" y="306324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28616" y="3017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Excel / PDF export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90872" y="365760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28616" y="3611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Course management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592824" y="1207008"/>
            <a:ext cx="164592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57416" y="1005840"/>
            <a:ext cx="201168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57416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4
</a:t>
            </a:r>
            <a:r>
              <a:rPr lang="en-US" sz="1100" dirty="0">
                <a:solidFill>
                  <a:srgbClr val="FFFFFF"/>
                </a:solidFill>
              </a:rPr>
              <a:t>QA &amp; Launch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757416" y="1508760"/>
            <a:ext cx="201168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57416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Weeks 11–13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757416" y="1783080"/>
            <a:ext cx="20116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67144" y="1874520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04888" y="18288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Testing &amp; bug fixes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867144" y="2468880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04888" y="24231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UAT with students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867144" y="3063240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04888" y="30175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Play Store release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867144" y="3657600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04888" y="36118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Department training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1A2F4A"/>
          </a:solidFill>
          <a:ln w="12700">
            <a:solidFill>
              <a:srgbClr val="1A2F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</a:rPr>
              <a:t>UniAttend delivers: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88696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86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8229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Zero proxy attendance  </a:t>
            </a:r>
            <a:r>
              <a:rPr lang="en-US" sz="1200" dirty="0">
                <a:solidFill>
                  <a:srgbClr val="E2E8F0"/>
                </a:solidFill>
              </a:rPr>
              <a:t>— GPS + device binding + rotating QR triple-locks each check-in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536192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Instant reporting  </a:t>
            </a:r>
            <a:r>
              <a:rPr lang="en-US" sz="1200" dirty="0">
                <a:solidFill>
                  <a:srgbClr val="E2E8F0"/>
                </a:solidFill>
              </a:rPr>
              <a:t>— Live roster visible to rep and lecturer throughout the class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313432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13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249424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Familiar export format  </a:t>
            </a:r>
            <a:r>
              <a:rPr lang="en-US" sz="1200" dirty="0">
                <a:solidFill>
                  <a:srgbClr val="E2E8F0"/>
                </a:solidFill>
              </a:rPr>
              <a:t>— Excel sheet matches existing ICT Cameroon paper template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026664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26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962656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Scalable architecture  </a:t>
            </a:r>
            <a:r>
              <a:rPr lang="en-US" sz="1200" dirty="0">
                <a:solidFill>
                  <a:srgbClr val="E2E8F0"/>
                </a:solidFill>
              </a:rPr>
              <a:t>— Clean Architecture enables adding institutions without rewriting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739896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39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367588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Offline-capable  </a:t>
            </a:r>
            <a:r>
              <a:rPr lang="en-US" sz="1200" dirty="0">
                <a:solidFill>
                  <a:srgbClr val="E2E8F0"/>
                </a:solidFill>
              </a:rPr>
              <a:t>— Local Hive cache ensures functionality in poor-connectivity classrooms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777240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72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Ready to eliminate paper attendance at ICT-U Cameroon.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873</Words>
  <Application>Microsoft Office PowerPoint</Application>
  <PresentationFormat>On-screen Show (16:9)</PresentationFormat>
  <Paragraphs>242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UniAttend – University Attendance Management System</dc:title>
  <dc:subject>PptxGenJS Presentation</dc:subject>
  <dc:creator>PptxGenJS</dc:creator>
  <cp:lastModifiedBy>Nguend Arthur Johann</cp:lastModifiedBy>
  <cp:revision>3</cp:revision>
  <dcterms:created xsi:type="dcterms:W3CDTF">2026-04-14T20:48:52Z</dcterms:created>
  <dcterms:modified xsi:type="dcterms:W3CDTF">2026-04-14T22:57:32Z</dcterms:modified>
</cp:coreProperties>
</file>